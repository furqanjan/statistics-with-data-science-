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60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0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3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3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56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0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2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2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01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49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B8D21-7959-4086-8ABB-0D7F7B126A3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62A07BE-8FB7-4E49-9087-C54F338099C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30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E947-58ED-4ABB-8A6A-C95C66634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376970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dirty="0"/>
              <a:t>Furqan Jan</a:t>
            </a:r>
            <a:br>
              <a:rPr lang="en-US" dirty="0"/>
            </a:br>
            <a:r>
              <a:rPr lang="en-US" b="1" dirty="0"/>
              <a:t>week : 03</a:t>
            </a:r>
            <a:br>
              <a:rPr lang="en-US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9B8E7-4E34-44B7-BEA5-A106D091A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4572000"/>
            <a:ext cx="8637072" cy="1290918"/>
          </a:xfrm>
        </p:spPr>
        <p:txBody>
          <a:bodyPr/>
          <a:lstStyle/>
          <a:p>
            <a:r>
              <a:rPr lang="en-US" dirty="0"/>
              <a:t>“Understanding how machines learn complex patterns from data.”</a:t>
            </a:r>
          </a:p>
        </p:txBody>
      </p:sp>
    </p:spTree>
    <p:extLst>
      <p:ext uri="{BB962C8B-B14F-4D97-AF65-F5344CB8AC3E}">
        <p14:creationId xmlns:p14="http://schemas.microsoft.com/office/powerpoint/2010/main" val="2594804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1AC8-EC9D-4039-9971-74D1D513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57D0B-FB17-452D-8F45-880D5A61F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is a branch of Machine Learning that uses artificial neural networks with multiple layers to learn complex patterns from data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88917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772E-B600-4424-89A3-02A5A1EC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639C58-6DB3-4EB9-963F-27AC7E0B8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inspired by the way the human brain processes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Neural Networks (ANNs)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“Deep” means the network contains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hidden layers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can automatically learn useful features from large amounts of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widely used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images, speech, text, prediction, and pattern recognition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657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9EDC-6A8B-404D-877C-960A4425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Deep Learning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E01E11-EBCF-4999-8787-BE9C2B540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665" y="2016125"/>
            <a:ext cx="7564995" cy="3449638"/>
          </a:xfrm>
        </p:spPr>
      </p:pic>
    </p:spTree>
    <p:extLst>
      <p:ext uri="{BB962C8B-B14F-4D97-AF65-F5344CB8AC3E}">
        <p14:creationId xmlns:p14="http://schemas.microsoft.com/office/powerpoint/2010/main" val="385485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B81B-B1FE-4812-9400-F3CBD63B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00D0-E3FB-4654-8067-A0C5269DB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deep neural network consists of an </a:t>
            </a:r>
            <a:r>
              <a:rPr lang="en-US" b="1" dirty="0"/>
              <a:t>input layer, multiple hidden layers, and an output layer</a:t>
            </a:r>
            <a:r>
              <a:rPr lang="en-US" dirty="0"/>
              <a:t>. Each circle represents a </a:t>
            </a:r>
            <a:r>
              <a:rPr lang="en-US" b="1" dirty="0"/>
              <a:t>neuron</a:t>
            </a:r>
            <a:r>
              <a:rPr lang="en-US" dirty="0"/>
              <a:t>, while the connecting lines represent </a:t>
            </a:r>
            <a:r>
              <a:rPr lang="en-US" b="1" dirty="0"/>
              <a:t>weights or connections</a:t>
            </a:r>
            <a:r>
              <a:rPr lang="en-US" dirty="0"/>
              <a:t> between neurons.</a:t>
            </a:r>
          </a:p>
        </p:txBody>
      </p:sp>
    </p:spTree>
    <p:extLst>
      <p:ext uri="{BB962C8B-B14F-4D97-AF65-F5344CB8AC3E}">
        <p14:creationId xmlns:p14="http://schemas.microsoft.com/office/powerpoint/2010/main" val="353233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A935-B33A-4175-B1B3-78391978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Deep Neural Network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48C8D-682D-455D-BB6D-E0F7FD3B28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Receives the original data or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Layers: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 increasingly complex patterns from the input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 the received information using weights, bias, and an activation 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Carry information from one neuron to neurons in the next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Produces the final prediction or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215008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4690-F405-42EC-9FBE-B0FF8030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3DDCB-DB84-4853-B089-9B887A6D2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neural network architectures are designed for different kinds of data and problems. The most common types include </a:t>
            </a:r>
            <a:r>
              <a:rPr lang="en-US" b="1" dirty="0"/>
              <a:t>ANN, CNN, RNN, and GANs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606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340B-E497-40E9-9ACB-3F50E3A7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 (ANN)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2F2E-1EAB-49AB-A56F-FF5D380C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Artificial Neural Network</a:t>
            </a:r>
            <a:r>
              <a:rPr lang="en-US" dirty="0"/>
              <a:t> is the basic form of a neural network. It consists of an </a:t>
            </a:r>
            <a:r>
              <a:rPr lang="en-US" b="1" dirty="0"/>
              <a:t>input layer, one or more hidden layers, and an output layer</a:t>
            </a:r>
            <a:r>
              <a:rPr lang="en-US" dirty="0"/>
              <a:t>.</a:t>
            </a:r>
          </a:p>
          <a:p>
            <a:r>
              <a:rPr lang="en-US" b="1" dirty="0"/>
              <a:t>Main idea:</a:t>
            </a:r>
            <a:r>
              <a:rPr lang="en-US" dirty="0"/>
              <a:t> Neurons are connected through weighted connections and learn patterns from data.</a:t>
            </a:r>
          </a:p>
          <a:p>
            <a:r>
              <a:rPr lang="en-US" b="1" dirty="0"/>
              <a:t>Common uses:</a:t>
            </a:r>
            <a:r>
              <a:rPr lang="en-US" dirty="0"/>
              <a:t> </a:t>
            </a:r>
          </a:p>
          <a:p>
            <a:r>
              <a:rPr lang="en-US" dirty="0"/>
              <a:t>Classification </a:t>
            </a:r>
          </a:p>
          <a:p>
            <a:r>
              <a:rPr lang="en-US" dirty="0"/>
              <a:t>Regression </a:t>
            </a:r>
          </a:p>
          <a:p>
            <a:r>
              <a:rPr lang="en-US" dirty="0"/>
              <a:t>Prediction </a:t>
            </a:r>
          </a:p>
          <a:p>
            <a:r>
              <a:rPr lang="en-US" dirty="0"/>
              <a:t>Customer behavior analysis </a:t>
            </a:r>
          </a:p>
          <a:p>
            <a:r>
              <a:rPr lang="en-US" dirty="0"/>
              <a:t>Medical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9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FC7F-E977-4FB3-BCA9-5722AE69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 (CNN)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C0AD-2114-4685-BD9B-49C67074A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Convolutional Neural Network</a:t>
            </a:r>
            <a:r>
              <a:rPr lang="en-US" dirty="0"/>
              <a:t> is mainly designed for </a:t>
            </a:r>
            <a:r>
              <a:rPr lang="en-US" b="1" dirty="0"/>
              <a:t>images and visual data</a:t>
            </a:r>
            <a:r>
              <a:rPr lang="en-US" dirty="0"/>
              <a:t>. It automatically learns features such as edges, shapes, textures, and objects.</a:t>
            </a:r>
          </a:p>
          <a:p>
            <a:r>
              <a:rPr lang="en-US" b="1" dirty="0"/>
              <a:t>Main idea:</a:t>
            </a:r>
            <a:r>
              <a:rPr lang="en-US" dirty="0"/>
              <a:t> Uses convolution and pooling operations to extract important features from images.</a:t>
            </a:r>
          </a:p>
          <a:p>
            <a:r>
              <a:rPr lang="en-US" b="1" dirty="0"/>
              <a:t>Common uses:</a:t>
            </a:r>
            <a:r>
              <a:rPr lang="en-US" dirty="0"/>
              <a:t> </a:t>
            </a:r>
          </a:p>
          <a:p>
            <a:r>
              <a:rPr lang="en-US" dirty="0"/>
              <a:t>Image classification </a:t>
            </a:r>
          </a:p>
          <a:p>
            <a:r>
              <a:rPr lang="en-US" dirty="0"/>
              <a:t>Face recognition </a:t>
            </a:r>
          </a:p>
          <a:p>
            <a:r>
              <a:rPr lang="en-US" dirty="0"/>
              <a:t>Object detection </a:t>
            </a:r>
          </a:p>
          <a:p>
            <a:r>
              <a:rPr lang="en-US" dirty="0"/>
              <a:t>Medical image analysis </a:t>
            </a:r>
          </a:p>
          <a:p>
            <a:r>
              <a:rPr lang="en-US" dirty="0"/>
              <a:t>Handwritten digit recognition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4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FC7F-E977-4FB3-BCA9-5722AE69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 (RNN)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C0AD-2114-4685-BD9B-49C67074A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Recurrent Neural Network</a:t>
            </a:r>
            <a:r>
              <a:rPr lang="en-US" dirty="0"/>
              <a:t> is designed for </a:t>
            </a:r>
            <a:r>
              <a:rPr lang="en-US" b="1" dirty="0"/>
              <a:t>sequential or time-dependent data</a:t>
            </a:r>
            <a:r>
              <a:rPr lang="en-US" dirty="0"/>
              <a:t>. Unlike a normal ANN, an RNN can use information from previous steps.</a:t>
            </a:r>
          </a:p>
          <a:p>
            <a:r>
              <a:rPr lang="en-US" b="1" dirty="0"/>
              <a:t>Main idea:</a:t>
            </a:r>
            <a:r>
              <a:rPr lang="en-US" dirty="0"/>
              <a:t> It has a form of </a:t>
            </a:r>
            <a:r>
              <a:rPr lang="en-US" b="1" dirty="0"/>
              <a:t>memory</a:t>
            </a:r>
            <a:r>
              <a:rPr lang="en-US" dirty="0"/>
              <a:t>, allowing previous information to influence the current output.</a:t>
            </a:r>
          </a:p>
          <a:p>
            <a:r>
              <a:rPr lang="en-US" b="1" dirty="0"/>
              <a:t>Common uses:</a:t>
            </a:r>
            <a:r>
              <a:rPr lang="en-US" dirty="0"/>
              <a:t> </a:t>
            </a:r>
          </a:p>
          <a:p>
            <a:r>
              <a:rPr lang="en-US" dirty="0"/>
              <a:t>Time-series forecasting </a:t>
            </a:r>
          </a:p>
          <a:p>
            <a:r>
              <a:rPr lang="en-US" dirty="0"/>
              <a:t>Speech recognition </a:t>
            </a:r>
          </a:p>
          <a:p>
            <a:r>
              <a:rPr lang="en-US" dirty="0"/>
              <a:t>Text processing </a:t>
            </a:r>
          </a:p>
          <a:p>
            <a:r>
              <a:rPr lang="en-US" dirty="0"/>
              <a:t>Language modeling </a:t>
            </a:r>
          </a:p>
          <a:p>
            <a:r>
              <a:rPr lang="en-US" dirty="0"/>
              <a:t>Stock or weather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5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978A-931E-498A-92D9-AF217690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Adversarial Network (GAN)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03DC-0EED-4A1F-A67D-A6802AC6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GAN</a:t>
            </a:r>
            <a:r>
              <a:rPr lang="en-US" dirty="0"/>
              <a:t> is a neural network architecture used to </a:t>
            </a:r>
            <a:r>
              <a:rPr lang="en-US" b="1" dirty="0"/>
              <a:t>generate new data</a:t>
            </a:r>
            <a:r>
              <a:rPr lang="en-US" dirty="0"/>
              <a:t> that resembles real data.</a:t>
            </a:r>
          </a:p>
          <a:p>
            <a:r>
              <a:rPr lang="en-US" dirty="0"/>
              <a:t>It contains two networks:</a:t>
            </a:r>
          </a:p>
          <a:p>
            <a:r>
              <a:rPr lang="en-US" b="1" dirty="0"/>
              <a:t>Generator:</a:t>
            </a:r>
            <a:r>
              <a:rPr lang="en-US" dirty="0"/>
              <a:t> Creates fake or synthetic data.</a:t>
            </a:r>
            <a:br>
              <a:rPr lang="en-US" dirty="0"/>
            </a:br>
            <a:r>
              <a:rPr lang="en-US" b="1" dirty="0"/>
              <a:t>Discriminator:</a:t>
            </a:r>
            <a:r>
              <a:rPr lang="en-US" dirty="0"/>
              <a:t> Tries to determine whether the data is real or generated.</a:t>
            </a:r>
          </a:p>
          <a:p>
            <a:r>
              <a:rPr lang="en-US" dirty="0"/>
              <a:t>The two networks compete with each other, causing the generator to improve.</a:t>
            </a:r>
          </a:p>
          <a:p>
            <a:r>
              <a:rPr lang="en-US" b="1" dirty="0"/>
              <a:t>Common uses:</a:t>
            </a:r>
            <a:r>
              <a:rPr lang="en-US" dirty="0"/>
              <a:t> </a:t>
            </a:r>
          </a:p>
          <a:p>
            <a:r>
              <a:rPr lang="en-US" dirty="0"/>
              <a:t>Image generation </a:t>
            </a:r>
          </a:p>
          <a:p>
            <a:r>
              <a:rPr lang="en-US" dirty="0"/>
              <a:t>Face generation </a:t>
            </a:r>
          </a:p>
          <a:p>
            <a:r>
              <a:rPr lang="en-US" dirty="0"/>
              <a:t>Data augmentation </a:t>
            </a:r>
          </a:p>
          <a:p>
            <a:r>
              <a:rPr lang="en-US" dirty="0"/>
              <a:t>Creating synthetic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23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D32C-34D9-4817-845F-16BAB5D9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Deep Learning So Popular?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988E-2906-44B3-9321-A425D7334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has become very popular because of its </a:t>
            </a:r>
            <a:r>
              <a:rPr lang="en-US" b="1" dirty="0"/>
              <a:t>wide applicability, high performance, and ability to learn automatically from large amounts of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04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7490-60F1-4497-A7FC-A0EB19FB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</a:t>
            </a:r>
            <a:r>
              <a:rPr lang="en-US" dirty="0" err="1"/>
              <a:t>ApplicabilityWide</a:t>
            </a:r>
            <a:r>
              <a:rPr lang="en-US" dirty="0"/>
              <a:t> Applicability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29E14-1072-45D0-B8E4-3C974C8E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Deep Learning can be applied to many different areas, such as:</a:t>
            </a:r>
          </a:p>
          <a:p>
            <a:r>
              <a:rPr lang="en-US" dirty="0"/>
              <a:t>Image and face recognition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Natural language processing</a:t>
            </a:r>
          </a:p>
          <a:p>
            <a:r>
              <a:rPr lang="en-US" dirty="0"/>
              <a:t>Medical diagnosis</a:t>
            </a:r>
          </a:p>
          <a:p>
            <a:r>
              <a:rPr lang="en-US" dirty="0"/>
              <a:t>Self-driving cars</a:t>
            </a:r>
          </a:p>
          <a:p>
            <a:r>
              <a:rPr lang="en-US" dirty="0"/>
              <a:t>Recommendation systems</a:t>
            </a:r>
          </a:p>
          <a:p>
            <a:r>
              <a:rPr lang="en-US" dirty="0"/>
              <a:t>Time-series forecasting</a:t>
            </a:r>
          </a:p>
          <a:p>
            <a:r>
              <a:rPr lang="en-US" dirty="0"/>
              <a:t>Generative AI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98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E241-EB9D-4619-89BA-3431CF7A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1B28-3AC7-4F16-A3CC-BFDCEF4A2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models can achieve very high accuracy, especially when:</a:t>
            </a:r>
          </a:p>
          <a:p>
            <a:r>
              <a:rPr lang="en-US" dirty="0"/>
              <a:t>Large datasets are available</a:t>
            </a:r>
          </a:p>
          <a:p>
            <a:r>
              <a:rPr lang="en-US" dirty="0"/>
              <a:t>Powerful computers or GPUs are used</a:t>
            </a:r>
          </a:p>
          <a:p>
            <a:r>
              <a:rPr lang="en-US" dirty="0"/>
              <a:t>The problem contains complex patterns</a:t>
            </a:r>
          </a:p>
          <a:p>
            <a:r>
              <a:rPr lang="en-US" dirty="0"/>
              <a:t>Traditional machine-learning methods struggle to capture those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22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7CD8-3941-4110-A394-A6D773EF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Feature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25FEA-EBA0-47D3-93FF-F0270FCCE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machine learning often requires humans to manually select important features.</a:t>
            </a:r>
          </a:p>
          <a:p>
            <a:r>
              <a:rPr lang="en-US" dirty="0"/>
              <a:t>Deep Learning can automatically learn useful features directly from raw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42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E439-C8B7-4090-B1F7-7C3B3758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Handles Complex and Large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8C93C-09F2-43A7-89FE-8B8554447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works especially well with: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Videos</a:t>
            </a:r>
          </a:p>
          <a:p>
            <a:r>
              <a:rPr lang="en-US" dirty="0"/>
              <a:t>Audio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Large-scale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93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9ABB-F4C4-4D5F-8EF4-269641A3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in Computing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7A921-9D88-4A52-A938-43E283486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</a:t>
            </a:r>
            <a:r>
              <a:rPr lang="en-US" b="1" dirty="0"/>
              <a:t>GPUs, cloud computing, and specialized AI hardware</a:t>
            </a:r>
            <a:r>
              <a:rPr lang="en-US" dirty="0"/>
              <a:t> have made it possible to train very large neural networks much faster.</a:t>
            </a:r>
          </a:p>
          <a:p>
            <a:r>
              <a:rPr lang="en-US" dirty="0"/>
              <a:t>Deep Learning became popular because it combines broad applicability, automatic feature learning, and strong performance on complex 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3284574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D568-6592-4809-A6DC-FF68A413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Deep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526B84-5F45-439E-8C55-29683C7FC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3"/>
            <a:ext cx="866455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1943: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First mathematical model of an artificial neuron.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1958: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introduced — an early neural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Backpropagation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became popular for training neural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1998: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became successful for image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neural networks became popular again.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AlexNet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very high performance in image classification using GPUs.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introduced for generating new images/data.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2017: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introduced.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Learning became the base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image generation,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AI, and other Generative AI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3730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B7E-0CAB-4C1E-9044-DCAAB421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Deep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AD1B24-838B-4C6D-9D13-6AAAAD8DB3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Recognition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face detection, object detection, medical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Recognition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voice assistants and speech-to-text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translation, chatbots, text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disease detection and medical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Self-Driving Cars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recognizing roads, vehicles, and pedestrians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fraud detection and risk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YouTube, Netflix, Amazon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Forecasting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weather, sales, and stock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creating images, text, audio, and video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detecting unusual or malicious activity </a:t>
            </a:r>
          </a:p>
        </p:txBody>
      </p:sp>
    </p:spTree>
    <p:extLst>
      <p:ext uri="{BB962C8B-B14F-4D97-AF65-F5344CB8AC3E}">
        <p14:creationId xmlns:p14="http://schemas.microsoft.com/office/powerpoint/2010/main" val="119594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91AA-976E-44DB-97A7-5FEBF37A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Neuron vs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89F8-5D84-450E-869D-78421FC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neuron</a:t>
            </a:r>
            <a:r>
              <a:rPr lang="en-US" dirty="0"/>
              <a:t> is the basic processing unit of a neural network, while a </a:t>
            </a:r>
            <a:r>
              <a:rPr lang="en-US" b="1" dirty="0"/>
              <a:t>perceptron</a:t>
            </a:r>
            <a:r>
              <a:rPr lang="en-US" dirty="0"/>
              <a:t> is one of the simplest mathematical models of a neuron.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perceptron is a simple artificial neuron used for basic classification, while “neuron” is the broader term used throughout neural networks.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3C0DF-1B82-4069-AEF3-0FEC81142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43400"/>
            <a:ext cx="10160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86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E830-71EF-41DB-913F-9434F387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Neuron?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548B-AA75-4E70-93EB-A8510B5A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neuron</a:t>
            </a:r>
            <a:r>
              <a:rPr lang="en-US" dirty="0"/>
              <a:t> is the basic processing unit of a neural network.</a:t>
            </a:r>
          </a:p>
          <a:p>
            <a:r>
              <a:rPr lang="en-US" dirty="0"/>
              <a:t>A neuron:</a:t>
            </a:r>
          </a:p>
          <a:p>
            <a:r>
              <a:rPr lang="en-US" dirty="0"/>
              <a:t>Receives information</a:t>
            </a:r>
          </a:p>
          <a:p>
            <a:r>
              <a:rPr lang="en-US" dirty="0"/>
              <a:t>Processes information</a:t>
            </a:r>
          </a:p>
          <a:p>
            <a:r>
              <a:rPr lang="en-US" dirty="0"/>
              <a:t>Produces an output</a:t>
            </a:r>
          </a:p>
          <a:p>
            <a:pPr marL="0" indent="0">
              <a:buNone/>
            </a:pPr>
            <a:r>
              <a:rPr lang="en-US" dirty="0"/>
              <a:t>In an artificial neural network, neurons are connected with other neurons to learn patterns from data.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26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6AA5-2845-452F-B2BC-A295EEE6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BB65-C87C-489B-A750-F4E5D52D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biological neuron is a cell in the human brain and nervous system.</a:t>
            </a:r>
          </a:p>
          <a:p>
            <a:r>
              <a:rPr lang="en-US" dirty="0"/>
              <a:t>Main parts:</a:t>
            </a:r>
          </a:p>
          <a:p>
            <a:r>
              <a:rPr lang="en-US" b="1" dirty="0"/>
              <a:t>Dendrites</a:t>
            </a:r>
            <a:r>
              <a:rPr lang="en-US" dirty="0"/>
              <a:t> – receive signals</a:t>
            </a:r>
          </a:p>
          <a:p>
            <a:r>
              <a:rPr lang="en-US" b="1" dirty="0"/>
              <a:t>Cell Body</a:t>
            </a:r>
            <a:r>
              <a:rPr lang="en-US" dirty="0"/>
              <a:t> – processes signals</a:t>
            </a:r>
          </a:p>
          <a:p>
            <a:r>
              <a:rPr lang="en-US" b="1" dirty="0"/>
              <a:t>Axon</a:t>
            </a:r>
            <a:r>
              <a:rPr lang="en-US" dirty="0"/>
              <a:t> – sends signals</a:t>
            </a:r>
          </a:p>
          <a:p>
            <a:r>
              <a:rPr lang="en-US" b="1" dirty="0"/>
              <a:t>Synapse</a:t>
            </a:r>
            <a:r>
              <a:rPr lang="en-US" dirty="0"/>
              <a:t> – connects one neuron to another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51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A95E-2467-4951-96FF-3618A3FC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1E83-51C7-4309-8FCE-0828D3A51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1" dirty="0"/>
              <a:t>An artificial neuron is a mathematical model inspired by a biological neuron.</a:t>
            </a:r>
          </a:p>
          <a:p>
            <a:r>
              <a:rPr lang="en-US" b="1" dirty="0"/>
              <a:t>It contains:</a:t>
            </a:r>
          </a:p>
          <a:p>
            <a:r>
              <a:rPr lang="en-US" b="1" dirty="0"/>
              <a:t>Inputs</a:t>
            </a:r>
          </a:p>
          <a:p>
            <a:r>
              <a:rPr lang="en-US" b="1" dirty="0"/>
              <a:t>Weights</a:t>
            </a:r>
          </a:p>
          <a:p>
            <a:r>
              <a:rPr lang="en-US" b="1" dirty="0"/>
              <a:t>Bias</a:t>
            </a:r>
          </a:p>
          <a:p>
            <a:r>
              <a:rPr lang="en-US" b="1" dirty="0"/>
              <a:t>Weighted sum</a:t>
            </a:r>
          </a:p>
          <a:p>
            <a:r>
              <a:rPr lang="en-US" b="1" dirty="0"/>
              <a:t>Activation function</a:t>
            </a:r>
          </a:p>
          <a:p>
            <a:r>
              <a:rPr lang="en-US" b="1" dirty="0"/>
              <a:t>Output</a:t>
            </a:r>
          </a:p>
          <a:p>
            <a:r>
              <a:rPr lang="en-US" b="1" dirty="0"/>
              <a:t>An artificial neuron is a mathematical model inspired by a biological neuron.</a:t>
            </a:r>
          </a:p>
          <a:p>
            <a:r>
              <a:rPr lang="en-US" b="1" dirty="0"/>
              <a:t>It contains:</a:t>
            </a:r>
          </a:p>
          <a:p>
            <a:r>
              <a:rPr lang="en-US" b="1" dirty="0"/>
              <a:t>Inputs</a:t>
            </a:r>
          </a:p>
          <a:p>
            <a:r>
              <a:rPr lang="en-US" b="1" dirty="0"/>
              <a:t>Weights</a:t>
            </a:r>
          </a:p>
          <a:p>
            <a:r>
              <a:rPr lang="en-US" b="1" dirty="0"/>
              <a:t>Bias</a:t>
            </a:r>
          </a:p>
          <a:p>
            <a:r>
              <a:rPr lang="en-US" b="1" dirty="0"/>
              <a:t>Weighted sum</a:t>
            </a:r>
          </a:p>
          <a:p>
            <a:r>
              <a:rPr lang="en-US" b="1" dirty="0"/>
              <a:t>Activation function</a:t>
            </a:r>
          </a:p>
          <a:p>
            <a:r>
              <a:rPr lang="en-US" b="1" dirty="0"/>
              <a:t>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35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791F-D8A0-456B-9E15-98527E52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Biological vs Artificial </a:t>
            </a:r>
            <a:r>
              <a:rPr lang="en-US" dirty="0" err="1"/>
              <a:t>NeuronBiological</a:t>
            </a:r>
            <a:r>
              <a:rPr lang="en-US" dirty="0"/>
              <a:t> vs Artificial </a:t>
            </a:r>
            <a:r>
              <a:rPr lang="en-US" dirty="0" err="1"/>
              <a:t>NeuronBiological</a:t>
            </a:r>
            <a:r>
              <a:rPr lang="en-US" dirty="0"/>
              <a:t> vs Artificial Neuron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96C657-1AE7-41BF-9A56-872E00A2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240169"/>
              </p:ext>
            </p:extLst>
          </p:nvPr>
        </p:nvGraphicFramePr>
        <p:xfrm>
          <a:off x="838200" y="1690689"/>
          <a:ext cx="10515600" cy="480218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465646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6295486"/>
                    </a:ext>
                  </a:extLst>
                </a:gridCol>
              </a:tblGrid>
              <a:tr h="651336">
                <a:tc>
                  <a:txBody>
                    <a:bodyPr/>
                    <a:lstStyle/>
                    <a:p>
                      <a:r>
                        <a:rPr lang="en-US"/>
                        <a:t>Biological Neuron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Artificial Neuron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5289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r>
                        <a:rPr lang="en-US"/>
                        <a:t>Dendrites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019945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r>
                        <a:rPr lang="en-US"/>
                        <a:t>Synaptic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199362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r>
                        <a:rPr lang="en-US"/>
                        <a:t>Cell body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Weighted 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7109"/>
                  </a:ext>
                </a:extLst>
              </a:tr>
              <a:tr h="1545507">
                <a:tc>
                  <a:txBody>
                    <a:bodyPr/>
                    <a:lstStyle/>
                    <a:p>
                      <a:r>
                        <a:rPr lang="en-US"/>
                        <a:t>Firing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Activation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585771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r>
                        <a:rPr lang="en-US"/>
                        <a:t>Axon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96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951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6FCC-AD9C-4FF6-B574-CD3992E7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Neuron vs </a:t>
            </a:r>
            <a:r>
              <a:rPr lang="en-US" dirty="0" err="1"/>
              <a:t>PerceptronNeuron</a:t>
            </a:r>
            <a:r>
              <a:rPr lang="en-US" dirty="0"/>
              <a:t> vs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7853-4F0F-4EA8-AE7D-9B192E2E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Neuron vs Perceptron</a:t>
            </a:r>
          </a:p>
          <a:p>
            <a:r>
              <a:rPr lang="en-US" dirty="0"/>
              <a:t>A </a:t>
            </a:r>
            <a:r>
              <a:rPr lang="en-US" b="1" dirty="0"/>
              <a:t>neuron</a:t>
            </a:r>
            <a:r>
              <a:rPr lang="en-US" dirty="0"/>
              <a:t> is a general processing unit used in neural networks.</a:t>
            </a:r>
          </a:p>
          <a:p>
            <a:r>
              <a:rPr lang="en-US" dirty="0"/>
              <a:t>A </a:t>
            </a:r>
            <a:r>
              <a:rPr lang="en-US" b="1" dirty="0"/>
              <a:t>perceptron</a:t>
            </a:r>
            <a:r>
              <a:rPr lang="en-US" dirty="0"/>
              <a:t> is one of the simplest types of artificial neurons.</a:t>
            </a:r>
          </a:p>
          <a:p>
            <a:r>
              <a:rPr lang="en-US" b="1" dirty="0"/>
              <a:t>Perceptron</a:t>
            </a:r>
          </a:p>
          <a:p>
            <a:r>
              <a:rPr lang="en-US" dirty="0"/>
              <a:t>Takes several inputs</a:t>
            </a:r>
          </a:p>
          <a:p>
            <a:r>
              <a:rPr lang="en-US" dirty="0"/>
              <a:t>Multiplies inputs by weights</a:t>
            </a:r>
          </a:p>
          <a:p>
            <a:r>
              <a:rPr lang="en-US" dirty="0"/>
              <a:t>Adds a bias</a:t>
            </a:r>
          </a:p>
          <a:p>
            <a:r>
              <a:rPr lang="en-US" dirty="0"/>
              <a:t>Calculates a weighted sum</a:t>
            </a:r>
          </a:p>
          <a:p>
            <a:r>
              <a:rPr lang="en-US" dirty="0"/>
              <a:t>Uses a threshold function</a:t>
            </a:r>
          </a:p>
          <a:p>
            <a:r>
              <a:rPr lang="en-US" dirty="0"/>
              <a:t>Produces an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100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E17E-4FB4-4395-9CC9-1C8EBC07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Artificial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FB15-F5CF-414F-9642-211C8DD4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Structure of an Artificial Neuron</a:t>
            </a:r>
          </a:p>
          <a:p>
            <a:r>
              <a:rPr lang="en-US" dirty="0"/>
              <a:t>Suppose </a:t>
            </a:r>
          </a:p>
          <a:p>
            <a:r>
              <a:rPr lang="en-US" dirty="0"/>
              <a:t>we have three inputs: x1, x2 , x3 </a:t>
            </a:r>
          </a:p>
          <a:p>
            <a:r>
              <a:rPr lang="en-US" dirty="0"/>
              <a:t>Each input has a weight:  w1, w2,w3 </a:t>
            </a:r>
          </a:p>
          <a:p>
            <a:r>
              <a:rPr lang="en-US" dirty="0"/>
              <a:t>The neuron calculates: </a:t>
            </a:r>
            <a:r>
              <a:rPr lang="pl-PL" dirty="0"/>
              <a:t>z = w1x1 + w2</a:t>
            </a:r>
            <a:r>
              <a:rPr lang="en-US" dirty="0"/>
              <a:t>x</a:t>
            </a:r>
            <a:r>
              <a:rPr lang="pl-PL" dirty="0"/>
              <a:t>2 + w3x3 + b </a:t>
            </a:r>
            <a:endParaRPr lang="en-US" dirty="0"/>
          </a:p>
          <a:p>
            <a:r>
              <a:rPr lang="en-US" dirty="0"/>
              <a:t>Then:  Output = f(z) here:</a:t>
            </a:r>
          </a:p>
          <a:p>
            <a:r>
              <a:rPr lang="en-US" dirty="0"/>
              <a:t>x = Input</a:t>
            </a:r>
          </a:p>
          <a:p>
            <a:r>
              <a:rPr lang="en-US" dirty="0"/>
              <a:t>w = Weight</a:t>
            </a:r>
          </a:p>
          <a:p>
            <a:r>
              <a:rPr lang="en-US" dirty="0"/>
              <a:t>b = Bias</a:t>
            </a:r>
          </a:p>
          <a:p>
            <a:r>
              <a:rPr lang="en-US" dirty="0"/>
              <a:t>f= Activation function</a:t>
            </a:r>
          </a:p>
          <a:p>
            <a:r>
              <a:rPr lang="en-US" dirty="0"/>
              <a:t>z= Weighted sum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376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DDD9-7F22-481B-9BE1-59E091E6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38123-A20A-4594-BE0B-24C3FDD27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input</a:t>
            </a:r>
            <a:r>
              <a:rPr lang="en-US" dirty="0"/>
              <a:t> is the information given to the neural network.</a:t>
            </a:r>
          </a:p>
          <a:p>
            <a:r>
              <a:rPr lang="en-US" dirty="0"/>
              <a:t>Inputs are usually represented as:x1 , x2 ,x3 …………</a:t>
            </a:r>
            <a:r>
              <a:rPr lang="en-US" dirty="0" err="1"/>
              <a:t>xn</a:t>
            </a:r>
            <a:r>
              <a:rPr lang="en-US" dirty="0"/>
              <a:t> </a:t>
            </a:r>
          </a:p>
          <a:p>
            <a:r>
              <a:rPr lang="en-US" b="1" dirty="0"/>
              <a:t>Example: Predicting Student Result</a:t>
            </a:r>
          </a:p>
          <a:p>
            <a:r>
              <a:rPr lang="en-US" dirty="0"/>
              <a:t>Possible inputs:</a:t>
            </a:r>
          </a:p>
          <a:p>
            <a:r>
              <a:rPr lang="en-US" dirty="0"/>
              <a:t>x_1 = Study hours</a:t>
            </a:r>
          </a:p>
          <a:p>
            <a:r>
              <a:rPr lang="en-US" dirty="0"/>
              <a:t>x_2 = Attendance</a:t>
            </a:r>
          </a:p>
          <a:p>
            <a:r>
              <a:rPr lang="en-US" dirty="0"/>
              <a:t>x_3 = Previous marks</a:t>
            </a:r>
          </a:p>
          <a:p>
            <a:pPr marL="0" indent="0">
              <a:buNone/>
            </a:pPr>
            <a:r>
              <a:rPr lang="en-US" dirty="0"/>
              <a:t>The neural network uses these inputs to make a prediction.</a:t>
            </a:r>
          </a:p>
        </p:txBody>
      </p:sp>
    </p:spTree>
    <p:extLst>
      <p:ext uri="{BB962C8B-B14F-4D97-AF65-F5344CB8AC3E}">
        <p14:creationId xmlns:p14="http://schemas.microsoft.com/office/powerpoint/2010/main" val="173592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2075-A0A1-4661-9AD5-108E7973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Weight?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8996-C43D-4198-BE15-7C8A71945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weight</a:t>
            </a:r>
            <a:r>
              <a:rPr lang="en-US" dirty="0"/>
              <a:t> represents the importance of an input.</a:t>
            </a:r>
          </a:p>
          <a:p>
            <a:r>
              <a:rPr lang="en-US" dirty="0"/>
              <a:t>Each input has its own weight.</a:t>
            </a:r>
          </a:p>
          <a:p>
            <a:r>
              <a:rPr lang="en-US" dirty="0"/>
              <a:t>For example: </a:t>
            </a:r>
          </a:p>
          <a:p>
            <a:pPr marL="0" indent="0" algn="ctr">
              <a:buNone/>
            </a:pPr>
            <a:r>
              <a:rPr lang="en-US" dirty="0"/>
              <a:t>x1 w1 </a:t>
            </a:r>
            <a:br>
              <a:rPr lang="en-US" dirty="0"/>
            </a:br>
            <a:r>
              <a:rPr lang="en-US" dirty="0"/>
              <a:t>x2w2 </a:t>
            </a:r>
          </a:p>
          <a:p>
            <a:pPr marL="0" indent="0" algn="ctr">
              <a:buNone/>
            </a:pPr>
            <a:r>
              <a:rPr lang="en-US" dirty="0"/>
              <a:t>x3w3 </a:t>
            </a:r>
          </a:p>
          <a:p>
            <a:r>
              <a:rPr lang="en-US" b="1" dirty="0"/>
              <a:t>Large Weight</a:t>
            </a:r>
          </a:p>
          <a:p>
            <a:r>
              <a:rPr lang="en-US" dirty="0"/>
              <a:t>The input may have a stronger influence on the prediction.</a:t>
            </a:r>
          </a:p>
          <a:p>
            <a:r>
              <a:rPr lang="en-US" b="1" dirty="0"/>
              <a:t>Small Weight</a:t>
            </a:r>
          </a:p>
          <a:p>
            <a:r>
              <a:rPr lang="en-US" dirty="0"/>
              <a:t>The input may have less influence.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8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CC60-4E1D-40E3-9E69-A5C98052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Bias?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1FAEF-CBAA-42F7-9323-E992E3508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Bias</a:t>
                </a:r>
              </a:p>
              <a:p>
                <a:r>
                  <a:rPr lang="en-US" b="1" dirty="0"/>
                  <a:t>Bias is an additional adjustable value added to the weighted sum.</a:t>
                </a:r>
                <a:endParaRPr lang="en-US" dirty="0"/>
              </a:p>
              <a:p>
                <a:r>
                  <a:rPr lang="pl-PL" dirty="0"/>
                  <a:t>Formula: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b = Bias </a:t>
                </a:r>
              </a:p>
              <a:p>
                <a:r>
                  <a:rPr lang="en-US" dirty="0"/>
                  <a:t>Bias allows the neuron to shift its decision boundary and fit the data more flexibly.</a:t>
                </a:r>
              </a:p>
              <a:p>
                <a:endParaRPr lang="pl-P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1FAEF-CBAA-42F7-9323-E992E3508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60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225E-9870-4850-8DAC-74123305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7E75-A112-4C5A-9B0F-54E9E4F0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Weighted Sum</a:t>
            </a:r>
          </a:p>
          <a:p>
            <a:r>
              <a:rPr lang="en-US" dirty="0"/>
              <a:t>The neuron multiplies every input by its corresponding weight and then adds them together.</a:t>
            </a:r>
          </a:p>
          <a:p>
            <a:r>
              <a:rPr lang="pl-PL" dirty="0"/>
              <a:t>Example:</a:t>
            </a:r>
          </a:p>
          <a:p>
            <a:pPr marL="0" indent="0">
              <a:buNone/>
            </a:pPr>
            <a:r>
              <a:rPr lang="pl-PL" dirty="0"/>
              <a:t> z = x1w1</a:t>
            </a:r>
            <a:r>
              <a:rPr lang="en-US" dirty="0"/>
              <a:t> </a:t>
            </a:r>
            <a:r>
              <a:rPr lang="pl-PL" dirty="0"/>
              <a:t>+</a:t>
            </a:r>
            <a:r>
              <a:rPr lang="en-US" dirty="0"/>
              <a:t> </a:t>
            </a:r>
            <a:r>
              <a:rPr lang="pl-PL" dirty="0"/>
              <a:t>x2w2</a:t>
            </a:r>
            <a:r>
              <a:rPr lang="en-US" dirty="0"/>
              <a:t> </a:t>
            </a:r>
            <a:r>
              <a:rPr lang="pl-PL" dirty="0"/>
              <a:t>+</a:t>
            </a:r>
            <a:r>
              <a:rPr lang="en-US" dirty="0"/>
              <a:t> </a:t>
            </a:r>
            <a:r>
              <a:rPr lang="pl-PL" dirty="0"/>
              <a:t>x3w3</a:t>
            </a:r>
            <a:r>
              <a:rPr lang="en-US" dirty="0"/>
              <a:t> </a:t>
            </a:r>
            <a:r>
              <a:rPr lang="pl-PL" dirty="0"/>
              <a:t>+</a:t>
            </a:r>
            <a:r>
              <a:rPr lang="en-US" dirty="0"/>
              <a:t> </a:t>
            </a:r>
            <a:r>
              <a:rPr lang="pl-PL" dirty="0"/>
              <a:t>b </a:t>
            </a:r>
            <a:endParaRPr lang="en-US" dirty="0"/>
          </a:p>
          <a:p>
            <a:r>
              <a:rPr lang="pl-PL" dirty="0"/>
              <a:t>Suppose:</a:t>
            </a:r>
            <a:r>
              <a:rPr lang="en-US" dirty="0"/>
              <a:t> </a:t>
            </a:r>
            <a:r>
              <a:rPr lang="pl-PL" dirty="0"/>
              <a:t> x1=2,</a:t>
            </a:r>
            <a:r>
              <a:rPr lang="en-US" dirty="0"/>
              <a:t>    </a:t>
            </a:r>
            <a:r>
              <a:rPr lang="pl-PL" dirty="0"/>
              <a:t>w1=0.5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pl-PL" dirty="0"/>
              <a:t>x2=3, w2=0.4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b=0.2 </a:t>
            </a:r>
          </a:p>
          <a:p>
            <a:pPr marL="0" indent="0">
              <a:buNone/>
            </a:pPr>
            <a:r>
              <a:rPr lang="en-US" dirty="0"/>
              <a:t>Then : </a:t>
            </a:r>
            <a:r>
              <a:rPr lang="pl-PL" dirty="0"/>
              <a:t> z=(2)(0.5)+(3)(0.4)+0.2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z=1+1.2+0.2 </a:t>
            </a:r>
          </a:p>
          <a:p>
            <a:pPr marL="0" indent="0">
              <a:buNone/>
            </a:pPr>
            <a:r>
              <a:rPr lang="en-US" dirty="0"/>
              <a:t>              z=2.4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23585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AB93-DD71-4D94-8560-A5A8C802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A15F-E280-4C44-93F4-BE5B10A0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Activation Function</a:t>
            </a:r>
          </a:p>
          <a:p>
            <a:r>
              <a:rPr lang="en-US" dirty="0"/>
              <a:t>An </a:t>
            </a:r>
            <a:r>
              <a:rPr lang="en-US" b="1" dirty="0"/>
              <a:t>activation function decides how the neuron should respond to the weighted sum.</a:t>
            </a:r>
            <a:endParaRPr lang="en-US" dirty="0"/>
          </a:p>
          <a:p>
            <a:r>
              <a:rPr lang="en-US" dirty="0"/>
              <a:t>It transforms:</a:t>
            </a:r>
          </a:p>
          <a:p>
            <a:r>
              <a:rPr lang="en-US" dirty="0"/>
              <a:t>				 z</a:t>
            </a:r>
          </a:p>
          <a:p>
            <a:r>
              <a:rPr lang="en-US" dirty="0"/>
              <a:t> into:</a:t>
            </a:r>
          </a:p>
          <a:p>
            <a:r>
              <a:rPr lang="en-US" dirty="0"/>
              <a:t> Output=f(z) </a:t>
            </a:r>
          </a:p>
          <a:p>
            <a:pPr marL="0" indent="0">
              <a:buNone/>
            </a:pPr>
            <a:r>
              <a:rPr lang="en-US" dirty="0"/>
              <a:t>Activation functions help neural networks learn </a:t>
            </a:r>
            <a:r>
              <a:rPr lang="en-US" b="1" dirty="0"/>
              <a:t>complex and nonlinear relationships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69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5B4C-D26D-4719-9140-BC4808C1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03F0B3-AEF0-48A1-8397-0CC760E9AF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Sigmoid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49683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287</TotalTime>
  <Words>1554</Words>
  <Application>Microsoft Office PowerPoint</Application>
  <PresentationFormat>Widescreen</PresentationFormat>
  <Paragraphs>232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Cambria Math</vt:lpstr>
      <vt:lpstr>Gill Sans MT</vt:lpstr>
      <vt:lpstr>Gallery</vt:lpstr>
      <vt:lpstr>     Furqan Jan week : 03  </vt:lpstr>
      <vt:lpstr>What is Deep Learning?</vt:lpstr>
      <vt:lpstr>Deep Learning</vt:lpstr>
      <vt:lpstr>Structure of a Deep Learning </vt:lpstr>
      <vt:lpstr>Neural Network</vt:lpstr>
      <vt:lpstr>Structure of a Deep Neural Network</vt:lpstr>
      <vt:lpstr>Types of Neural Networks</vt:lpstr>
      <vt:lpstr>Artificial Neural Network (ANN)</vt:lpstr>
      <vt:lpstr>Convolutional Neural Network (CNN)</vt:lpstr>
      <vt:lpstr>Recurrent Neural Network (RNN)</vt:lpstr>
      <vt:lpstr>Generative Adversarial Network (GAN)</vt:lpstr>
      <vt:lpstr>Why is Deep Learning So Popular?</vt:lpstr>
      <vt:lpstr>Wide ApplicabilityWide Applicability</vt:lpstr>
      <vt:lpstr>High Performance</vt:lpstr>
      <vt:lpstr>Automatic Feature Learning</vt:lpstr>
      <vt:lpstr>Handles Complex and Large Data</vt:lpstr>
      <vt:lpstr>Improvement in Computing Power</vt:lpstr>
      <vt:lpstr>History of Deep Learning</vt:lpstr>
      <vt:lpstr>Applications of Deep Learning</vt:lpstr>
      <vt:lpstr>Neuron vs Perceptron</vt:lpstr>
      <vt:lpstr>What is a Neuron?</vt:lpstr>
      <vt:lpstr>Biological Neuron</vt:lpstr>
      <vt:lpstr>Artificial Neuron</vt:lpstr>
      <vt:lpstr>Biological vs Artificial NeuronBiological vs Artificial NeuronBiological vs Artificial Neuron</vt:lpstr>
      <vt:lpstr>Neuron vs PerceptronNeuron vs Perceptron</vt:lpstr>
      <vt:lpstr>Structure of an Artificial Neuron</vt:lpstr>
      <vt:lpstr>What is an Input?</vt:lpstr>
      <vt:lpstr>What is a Weight?</vt:lpstr>
      <vt:lpstr>What is Bias?</vt:lpstr>
      <vt:lpstr>Weighted Sum</vt:lpstr>
      <vt:lpstr>Activation Function</vt:lpstr>
      <vt:lpstr>Activation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Instructor: Furqan Jan week : 03 Academic Session: 2026</dc:title>
  <dc:creator>Furqan jan</dc:creator>
  <cp:lastModifiedBy>Furqan jan</cp:lastModifiedBy>
  <cp:revision>14</cp:revision>
  <dcterms:created xsi:type="dcterms:W3CDTF">2026-10-04T17:27:25Z</dcterms:created>
  <dcterms:modified xsi:type="dcterms:W3CDTF">2026-10-05T06:57:24Z</dcterms:modified>
</cp:coreProperties>
</file>