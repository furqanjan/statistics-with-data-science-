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9" r:id="rId18"/>
    <p:sldId id="276" r:id="rId19"/>
    <p:sldId id="273" r:id="rId20"/>
    <p:sldId id="275" r:id="rId21"/>
    <p:sldId id="277" r:id="rId22"/>
    <p:sldId id="278" r:id="rId23"/>
    <p:sldId id="274" r:id="rId24"/>
    <p:sldId id="280" r:id="rId25"/>
    <p:sldId id="281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20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8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40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466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26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94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7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8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1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41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65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9040-4793-4866-94B3-FAEE5019CB1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177F0FD-C5CB-4C3B-8516-D088A12DA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88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914EA-B6AD-470E-8000-14499CBE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C39C-49DB-418F-9016-81C44242A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800" b="1" dirty="0"/>
              <a:t>Presented by: Furqan Jan</a:t>
            </a:r>
            <a:br>
              <a:rPr lang="en-US" sz="4800" b="1" dirty="0"/>
            </a:br>
            <a:r>
              <a:rPr lang="en-US" sz="4800" b="1" dirty="0"/>
              <a:t> 				</a:t>
            </a:r>
            <a:br>
              <a:rPr lang="en-US" sz="4800" b="1" dirty="0"/>
            </a:br>
            <a:r>
              <a:rPr lang="en-US" sz="4800" b="1" dirty="0"/>
              <a:t>				Artificial Intelligence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22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95B7-FA58-423B-9E15-0AA5C7B2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2799"/>
            <a:ext cx="10515600" cy="1325563"/>
          </a:xfrm>
        </p:spPr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40DDA-C15F-4889-8491-B01A6326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Artificial Intelligence (AI) is a branch of computer science that focuses on creating machines and computer systems that can perform tasks that normally require human intelligence.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/>
              <a:t>AI means making computers capable of performing intelligent tasks.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What can AI systems do?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Learn from information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See and recognize objects or images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Understand human language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Recognize speech and sounds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Make decisions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Solve problems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 Make predictions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82E59A8-97D6-4A37-96E4-46EB87153051}"/>
              </a:ext>
            </a:extLst>
          </p:cNvPr>
          <p:cNvSpPr/>
          <p:nvPr/>
        </p:nvSpPr>
        <p:spPr>
          <a:xfrm>
            <a:off x="838200" y="3023441"/>
            <a:ext cx="304800" cy="2554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9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3BA-F71D-4701-8375-AF5516A1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7F5B-3BA6-4A71-825B-2BA31D7A0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Machine Learning (ML) is a branch of Artificial Intelligence that allows computers to learn patterns from data and make predictions or decisions without being explicitly programmed for every situation.</a:t>
            </a:r>
          </a:p>
          <a:p>
            <a:r>
              <a:rPr lang="en-US" dirty="0"/>
              <a:t>   </a:t>
            </a:r>
            <a:r>
              <a:rPr lang="en-US" i="1" dirty="0"/>
              <a:t>Machine Learning means teaching a computer using data instead of giving it every rule manually.</a:t>
            </a:r>
          </a:p>
          <a:p>
            <a:r>
              <a:rPr lang="en-US" sz="1700" dirty="0"/>
              <a:t>Data → Learning → Model → Prediction</a:t>
            </a:r>
          </a:p>
          <a:p>
            <a:r>
              <a:rPr lang="en-US" sz="1700" dirty="0"/>
              <a:t>Data — Give examples to the computer. </a:t>
            </a:r>
          </a:p>
          <a:p>
            <a:r>
              <a:rPr lang="en-US" sz="1700" dirty="0"/>
              <a:t>Learning — The computer finds patterns in the data. </a:t>
            </a:r>
          </a:p>
          <a:p>
            <a:r>
              <a:rPr lang="en-US" sz="1700" dirty="0"/>
              <a:t>Model — The learned patterns are stored in a model. </a:t>
            </a:r>
          </a:p>
          <a:p>
            <a:r>
              <a:rPr lang="en-US" sz="1700" dirty="0"/>
              <a:t>Prediction — The model uses what it learned to make predictions on new data.</a:t>
            </a:r>
          </a:p>
          <a:p>
            <a:endParaRPr lang="en-US" i="1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842405F-506E-4ECD-B811-41EC301853E7}"/>
              </a:ext>
            </a:extLst>
          </p:cNvPr>
          <p:cNvSpPr/>
          <p:nvPr/>
        </p:nvSpPr>
        <p:spPr>
          <a:xfrm>
            <a:off x="941294" y="3092824"/>
            <a:ext cx="349624" cy="336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2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BF8C87-F593-4240-A05B-56300A9C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4B41FAE-93A2-4ECB-BFC1-EC152DC0E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93080"/>
            <a:ext cx="1108934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Data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 + Rooms + Location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↓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↓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Predicted House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allows computers to learn from data and improve their predictions.</a:t>
            </a:r>
          </a:p>
        </p:txBody>
      </p:sp>
    </p:spTree>
    <p:extLst>
      <p:ext uri="{BB962C8B-B14F-4D97-AF65-F5344CB8AC3E}">
        <p14:creationId xmlns:p14="http://schemas.microsoft.com/office/powerpoint/2010/main" val="264034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5B8B-ADBC-4F87-A617-525ADAFC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63C1C-56E2-4493-980F-A0CB5E9EF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Machine Learning is needed because many real-world problems are too complex to solve using manually written rules.</a:t>
            </a:r>
          </a:p>
          <a:p>
            <a:r>
              <a:rPr lang="en-US" sz="2400" dirty="0"/>
              <a:t>Why ML?</a:t>
            </a:r>
          </a:p>
          <a:p>
            <a:r>
              <a:rPr lang="en-US" sz="2400" dirty="0"/>
              <a:t> Large amounts of data — Humans cannot analyze huge datasets manually. </a:t>
            </a:r>
          </a:p>
          <a:p>
            <a:r>
              <a:rPr lang="en-US" sz="2400" dirty="0"/>
              <a:t> Find hidden patterns — ML can discover patterns in data. </a:t>
            </a:r>
          </a:p>
          <a:p>
            <a:r>
              <a:rPr lang="en-US" sz="2400" dirty="0"/>
              <a:t>Automate decisions — Systems can make predictions automatically. </a:t>
            </a:r>
          </a:p>
          <a:p>
            <a:r>
              <a:rPr lang="en-US" sz="2400" dirty="0"/>
              <a:t> Handle changing situations — Models can learn from new data. </a:t>
            </a:r>
          </a:p>
          <a:p>
            <a:r>
              <a:rPr lang="en-US" sz="2400" dirty="0"/>
              <a:t> Make predictions — ML can predict future or unknown outcomes.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4648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1BFB-8461-4579-9CC4-17FD690E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Programming vs Machine Learning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D7D393-B7BB-4A3C-B65A-49A22BAF5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370065"/>
              </p:ext>
            </p:extLst>
          </p:nvPr>
        </p:nvGraphicFramePr>
        <p:xfrm>
          <a:off x="838200" y="1690688"/>
          <a:ext cx="10515600" cy="444117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752737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6857383"/>
                    </a:ext>
                  </a:extLst>
                </a:gridCol>
              </a:tblGrid>
              <a:tr h="888234">
                <a:tc>
                  <a:txBody>
                    <a:bodyPr/>
                    <a:lstStyle/>
                    <a:p>
                      <a:r>
                        <a:rPr lang="en-US"/>
                        <a:t>Traditional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350638"/>
                  </a:ext>
                </a:extLst>
              </a:tr>
              <a:tr h="888234">
                <a:tc>
                  <a:txBody>
                    <a:bodyPr/>
                    <a:lstStyle/>
                    <a:p>
                      <a:r>
                        <a:rPr lang="en-US"/>
                        <a:t>Programmer writes the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learns patterns from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808040"/>
                  </a:ext>
                </a:extLst>
              </a:tr>
              <a:tr h="888234">
                <a:tc>
                  <a:txBody>
                    <a:bodyPr/>
                    <a:lstStyle/>
                    <a:p>
                      <a:r>
                        <a:rPr lang="en-US"/>
                        <a:t>Rules + Data →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+ Output →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109016"/>
                  </a:ext>
                </a:extLst>
              </a:tr>
              <a:tr h="888234">
                <a:tc>
                  <a:txBody>
                    <a:bodyPr/>
                    <a:lstStyle/>
                    <a:p>
                      <a:r>
                        <a:rPr lang="en-US"/>
                        <a:t>Rules are explicitly defined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Rules are learned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912347"/>
                  </a:ext>
                </a:extLst>
              </a:tr>
              <a:tr h="888234">
                <a:tc>
                  <a:txBody>
                    <a:bodyPr/>
                    <a:lstStyle/>
                    <a:p>
                      <a:r>
                        <a:rPr lang="en-US"/>
                        <a:t>Works well when rules are 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when rules are complex or difficult to define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62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C235F-298A-41CC-AD64-3742F6E2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B0098-27A4-4AD3-ACFD-A9718725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Machine Learning is used in many areas of our daily lives and different industries.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Healthcare — Disease detection and medical image analysis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Banking — Fraud detection and risk prediction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Email — Spam detection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E-commerce — Product recommendations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Smartphones — Face recognition and voice assistants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Transportation — Traffic and route prediction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Entertainment — Movie, music, and video recommendations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Cybersecurity — Detecting unusual or suspicious activity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Industry — Predictive maintenance and quality inspection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0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1FB596-0131-40FC-A224-09DB2DA18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-126256"/>
            <a:ext cx="92368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Machine Learning works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635B-AE2E-4667-A07E-EC4D8473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Basic Process</a:t>
            </a:r>
          </a:p>
          <a:p>
            <a:r>
              <a:rPr lang="en-US" dirty="0"/>
              <a:t>1. Collect Data</a:t>
            </a:r>
            <a:br>
              <a:rPr lang="en-US" dirty="0"/>
            </a:br>
            <a:r>
              <a:rPr lang="en-US" dirty="0"/>
              <a:t>Gather relevant examples.</a:t>
            </a:r>
          </a:p>
          <a:p>
            <a:r>
              <a:rPr lang="en-US" dirty="0"/>
              <a:t>                    ⬇️</a:t>
            </a:r>
          </a:p>
          <a:p>
            <a:r>
              <a:rPr lang="en-US" dirty="0"/>
              <a:t>2. Prepare Data</a:t>
            </a:r>
            <a:br>
              <a:rPr lang="en-US" dirty="0"/>
            </a:br>
            <a:r>
              <a:rPr lang="en-US" dirty="0"/>
              <a:t>Clean and organize the data.</a:t>
            </a:r>
          </a:p>
          <a:p>
            <a:pPr marL="0" indent="0">
              <a:buNone/>
            </a:pPr>
            <a:r>
              <a:rPr lang="en-US" dirty="0"/>
              <a:t>                     ⬇️</a:t>
            </a:r>
          </a:p>
          <a:p>
            <a:r>
              <a:rPr lang="en-US" dirty="0"/>
              <a:t>3. Train the Model</a:t>
            </a:r>
            <a:br>
              <a:rPr lang="en-US" dirty="0"/>
            </a:br>
            <a:r>
              <a:rPr lang="en-US" dirty="0"/>
              <a:t>The model learns patterns from the data.</a:t>
            </a:r>
          </a:p>
          <a:p>
            <a:pPr marL="0" indent="0">
              <a:buNone/>
            </a:pPr>
            <a:r>
              <a:rPr lang="en-US" dirty="0"/>
              <a:t>                     ⬇️</a:t>
            </a:r>
          </a:p>
          <a:p>
            <a:r>
              <a:rPr lang="en-US" dirty="0"/>
              <a:t>4. Evaluate the Model</a:t>
            </a:r>
            <a:br>
              <a:rPr lang="en-US" dirty="0"/>
            </a:br>
            <a:r>
              <a:rPr lang="en-US" dirty="0"/>
              <a:t>Check how well the model performs.</a:t>
            </a:r>
          </a:p>
          <a:p>
            <a:pPr marL="0" indent="0">
              <a:buNone/>
            </a:pPr>
            <a:r>
              <a:rPr lang="en-US" dirty="0"/>
              <a:t>                      ⬇️</a:t>
            </a:r>
          </a:p>
          <a:p>
            <a:r>
              <a:rPr lang="en-US" dirty="0"/>
              <a:t>5. Make Predictions</a:t>
            </a:r>
            <a:br>
              <a:rPr lang="en-US" dirty="0"/>
            </a:br>
            <a:r>
              <a:rPr lang="en-US" dirty="0"/>
              <a:t>Use the trained model on new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6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79BB-74CE-4F67-9107-3A8D91C5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0501-3833-4ED9-AD69-7FB08A9D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dataset</a:t>
            </a:r>
            <a:r>
              <a:rPr lang="en-US" dirty="0"/>
              <a:t> is a </a:t>
            </a:r>
            <a:r>
              <a:rPr lang="en-US" b="1" dirty="0"/>
              <a:t>collection of data</a:t>
            </a:r>
            <a:r>
              <a:rPr lang="en-US" dirty="0"/>
              <a:t> used by a machine learning system to learn pa</a:t>
            </a:r>
          </a:p>
          <a:p>
            <a:r>
              <a:rPr lang="en-US" b="1" dirty="0"/>
              <a:t>Main Parts of a Dataset</a:t>
            </a:r>
          </a:p>
          <a:p>
            <a:pPr algn="just"/>
            <a:r>
              <a:rPr lang="en-US" dirty="0"/>
              <a:t>Rows → Individual examples or records </a:t>
            </a:r>
          </a:p>
          <a:p>
            <a:pPr algn="just"/>
            <a:r>
              <a:rPr lang="en-US" dirty="0"/>
              <a:t>Columns → Different types of information </a:t>
            </a:r>
          </a:p>
          <a:p>
            <a:pPr algn="just"/>
            <a:r>
              <a:rPr lang="en-US" dirty="0"/>
              <a:t>Features → Input information used by the model </a:t>
            </a:r>
          </a:p>
          <a:p>
            <a:pPr algn="just"/>
            <a:r>
              <a:rPr lang="en-US" dirty="0"/>
              <a:t>Label / Target → The output we want to predict</a:t>
            </a:r>
          </a:p>
        </p:txBody>
      </p:sp>
    </p:spTree>
    <p:extLst>
      <p:ext uri="{BB962C8B-B14F-4D97-AF65-F5344CB8AC3E}">
        <p14:creationId xmlns:p14="http://schemas.microsoft.com/office/powerpoint/2010/main" val="309634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58C3-86AD-4A8D-9A4B-718D5536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542050"/>
            <a:ext cx="11371730" cy="1496208"/>
          </a:xfrm>
        </p:spPr>
        <p:txBody>
          <a:bodyPr/>
          <a:lstStyle/>
          <a:p>
            <a:r>
              <a:rPr lang="en-US" b="1" dirty="0"/>
              <a:t>House Price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E834EE-1794-4944-B5DF-69E25FAD5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357540"/>
              </p:ext>
            </p:extLst>
          </p:nvPr>
        </p:nvGraphicFramePr>
        <p:xfrm>
          <a:off x="407894" y="1896035"/>
          <a:ext cx="11371728" cy="149620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42932">
                  <a:extLst>
                    <a:ext uri="{9D8B030D-6E8A-4147-A177-3AD203B41FA5}">
                      <a16:colId xmlns:a16="http://schemas.microsoft.com/office/drawing/2014/main" val="1286931262"/>
                    </a:ext>
                  </a:extLst>
                </a:gridCol>
                <a:gridCol w="2842932">
                  <a:extLst>
                    <a:ext uri="{9D8B030D-6E8A-4147-A177-3AD203B41FA5}">
                      <a16:colId xmlns:a16="http://schemas.microsoft.com/office/drawing/2014/main" val="1231314541"/>
                    </a:ext>
                  </a:extLst>
                </a:gridCol>
                <a:gridCol w="2842932">
                  <a:extLst>
                    <a:ext uri="{9D8B030D-6E8A-4147-A177-3AD203B41FA5}">
                      <a16:colId xmlns:a16="http://schemas.microsoft.com/office/drawing/2014/main" val="1870741765"/>
                    </a:ext>
                  </a:extLst>
                </a:gridCol>
                <a:gridCol w="2842932">
                  <a:extLst>
                    <a:ext uri="{9D8B030D-6E8A-4147-A177-3AD203B41FA5}">
                      <a16:colId xmlns:a16="http://schemas.microsoft.com/office/drawing/2014/main" val="2845834329"/>
                    </a:ext>
                  </a:extLst>
                </a:gridCol>
              </a:tblGrid>
              <a:tr h="374052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594735"/>
                  </a:ext>
                </a:extLst>
              </a:tr>
              <a:tr h="374052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Peshawar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214596"/>
                  </a:ext>
                </a:extLst>
              </a:tr>
              <a:tr h="374052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706346"/>
                  </a:ext>
                </a:extLst>
              </a:tr>
              <a:tr h="374052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Islamabad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285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77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A2EA-8DEB-4803-88F3-D6D98AA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BEDF0-C8A7-4407-905E-13C77D8C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r>
              <a:rPr lang="en-US" dirty="0"/>
              <a:t> are the </a:t>
            </a:r>
            <a:r>
              <a:rPr lang="en-US" b="1" dirty="0"/>
              <a:t>input variables or characteristics</a:t>
            </a:r>
            <a:r>
              <a:rPr lang="en-US" dirty="0"/>
              <a:t> in a dataset that a Machine Learning model uses to </a:t>
            </a:r>
            <a:r>
              <a:rPr lang="en-US" b="1" dirty="0"/>
              <a:t>learn patterns and make predictions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F37F55-D3D6-4DDB-AB56-DA70D2BF4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784152"/>
              </p:ext>
            </p:extLst>
          </p:nvPr>
        </p:nvGraphicFramePr>
        <p:xfrm>
          <a:off x="838200" y="3452654"/>
          <a:ext cx="10515600" cy="211442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813501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763687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516606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2948254"/>
                    </a:ext>
                  </a:extLst>
                </a:gridCol>
              </a:tblGrid>
              <a:tr h="704809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180482"/>
                  </a:ext>
                </a:extLst>
              </a:tr>
              <a:tr h="704809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Peshawar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686867"/>
                  </a:ext>
                </a:extLst>
              </a:tr>
              <a:tr h="704809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46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71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1BE1-4D02-403A-86C2-8541AADF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(Input)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78E0-93C6-4807-B939-FBC6ADDD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Features (Input):</a:t>
            </a:r>
          </a:p>
          <a:p>
            <a:r>
              <a:rPr lang="en-US" dirty="0"/>
              <a:t>Size </a:t>
            </a:r>
          </a:p>
          <a:p>
            <a:r>
              <a:rPr lang="en-US" dirty="0"/>
              <a:t>Number of bedrooms </a:t>
            </a:r>
          </a:p>
          <a:p>
            <a:r>
              <a:rPr lang="en-US" dirty="0"/>
              <a:t>Location </a:t>
            </a:r>
          </a:p>
          <a:p>
            <a:r>
              <a:rPr lang="en-US" b="1" dirty="0"/>
              <a:t>Target (Output):</a:t>
            </a:r>
          </a:p>
          <a:p>
            <a:r>
              <a:rPr lang="en-US" dirty="0"/>
              <a:t>Price </a:t>
            </a:r>
          </a:p>
          <a:p>
            <a:r>
              <a:rPr lang="en-US" dirty="0"/>
              <a:t>Simple Idea</a:t>
            </a:r>
          </a:p>
          <a:p>
            <a:r>
              <a:rPr lang="en-US" dirty="0"/>
              <a:t>Features → Model →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66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B18B-5B15-43DD-912C-0C2857B2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/>
              <a:t>Labels / Target</a:t>
            </a:r>
            <a:br>
              <a:rPr lang="en-US" sz="48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C003E-4D26-4B8F-A5FB-CE807701E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Labels or Targets are the output values that a Machine Learning model is trained to predict.</a:t>
            </a:r>
          </a:p>
          <a:p>
            <a:r>
              <a:rPr lang="en-US" dirty="0"/>
              <a:t>Example: House Price Prediction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67D46-A317-4E63-B9F3-1E132C5BE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62001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260050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528940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797679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36394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72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Peshawar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20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25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Islamabad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62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808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E3A4-A0A8-4BAA-B9BB-4BD97DA5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315D8-C5EE-4DC4-BFD3-00E18A414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400" dirty="0"/>
              <a:t>A Machine Learning Model is a system that learns patterns from data and uses those patterns to make predictions on new data.</a:t>
            </a:r>
          </a:p>
          <a:p>
            <a:r>
              <a:rPr lang="en-US" sz="2400" dirty="0"/>
              <a:t>How it works</a:t>
            </a:r>
          </a:p>
          <a:p>
            <a:r>
              <a:rPr lang="en-US" sz="2400" dirty="0"/>
              <a:t>Training Data → Model Learns Patterns → Prediction</a:t>
            </a:r>
          </a:p>
          <a:p>
            <a:r>
              <a:rPr lang="en-US" sz="2400" dirty="0"/>
              <a:t>Example: House Price Prediction</a:t>
            </a:r>
          </a:p>
          <a:p>
            <a:r>
              <a:rPr lang="en-US" sz="2400" dirty="0"/>
              <a:t>Features:</a:t>
            </a:r>
            <a:br>
              <a:rPr lang="en-US" sz="2400" dirty="0"/>
            </a:br>
            <a:r>
              <a:rPr lang="en-US" sz="2400" dirty="0"/>
              <a:t>Size + Bedrooms + Location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dirty="0"/>
              <a:t>Trained ML Model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dirty="0"/>
              <a:t>Predicted Price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040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5DBD-0808-473A-B2AF-20E74371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FA32-EC87-4F6B-83FC-CCB98966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Training is the process of teaching a Machine Learning model using data so that it can learn patterns and relationships.</a:t>
            </a:r>
          </a:p>
          <a:p>
            <a:r>
              <a:rPr lang="en-US" dirty="0"/>
              <a:t>How Training Works</a:t>
            </a:r>
          </a:p>
          <a:p>
            <a:r>
              <a:rPr lang="en-US" dirty="0"/>
              <a:t>Training Data → Model → Prediction → Compare with Actual Target → Improve Model</a:t>
            </a:r>
          </a:p>
          <a:p>
            <a:r>
              <a:rPr lang="en-US" dirty="0"/>
              <a:t>This process is repeated many times until the model learns useful patterns.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For house price prediction:</a:t>
            </a:r>
          </a:p>
          <a:p>
            <a:r>
              <a:rPr lang="en-US" dirty="0"/>
              <a:t>House Features + Actual Prices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Training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Model learns the relationship</a:t>
            </a:r>
            <a:br>
              <a:rPr lang="en-US" dirty="0"/>
            </a:br>
            <a:r>
              <a:rPr lang="en-US" dirty="0"/>
              <a:t>between house features and prices.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9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EB8C-6AA9-4ABC-93F6-0962B977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Prediction / Inference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04A4D-CD18-4A0E-90FD-71C47B9A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Prediction is the process of using a trained Machine Learning model to produce an output for new data.</a:t>
            </a:r>
          </a:p>
          <a:p>
            <a:r>
              <a:rPr lang="en-US" dirty="0"/>
              <a:t>Inference is the term commonly used for the process of running new data through a trained model to get a prediction.</a:t>
            </a:r>
          </a:p>
          <a:p>
            <a:r>
              <a:rPr lang="en-US" dirty="0"/>
              <a:t>How it works</a:t>
            </a:r>
          </a:p>
          <a:p>
            <a:r>
              <a:rPr lang="en-US" dirty="0"/>
              <a:t>New Data → Trained Model → Prediction</a:t>
            </a:r>
          </a:p>
          <a:p>
            <a:r>
              <a:rPr lang="en-US" dirty="0"/>
              <a:t>Example: House Price Prediction</a:t>
            </a:r>
          </a:p>
          <a:p>
            <a:r>
              <a:rPr lang="en-US" dirty="0"/>
              <a:t>New House:</a:t>
            </a:r>
            <a:br>
              <a:rPr lang="en-US" dirty="0"/>
            </a:br>
            <a:r>
              <a:rPr lang="en-US" dirty="0"/>
              <a:t>Size + Bedrooms + Location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Trained ML Model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Predicted Price: 15 Million PKR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39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B0B0-08D1-4EAF-B758-6CF31497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06E0-54AB-4D5C-B38F-B97721B2E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Machine Learning is commonly divided into three main types:</a:t>
            </a:r>
          </a:p>
          <a:p>
            <a:pPr marL="0" indent="0">
              <a:buNone/>
            </a:pPr>
            <a:r>
              <a:rPr lang="en-US" dirty="0"/>
              <a:t>1. Supervised Learning</a:t>
            </a:r>
          </a:p>
          <a:p>
            <a:r>
              <a:rPr lang="en-US" dirty="0"/>
              <a:t>The model learns from labeled data, where the correct answer is already provided.</a:t>
            </a:r>
          </a:p>
          <a:p>
            <a:pPr marL="0" indent="0">
              <a:buNone/>
            </a:pPr>
            <a:r>
              <a:rPr lang="en-US" dirty="0"/>
              <a:t>Example: Predicting house prices or detecting spam emails.</a:t>
            </a:r>
          </a:p>
          <a:p>
            <a:pPr marL="0" indent="0">
              <a:buNone/>
            </a:pPr>
            <a:r>
              <a:rPr lang="en-US" dirty="0"/>
              <a:t>2. Unsupervised Learning</a:t>
            </a:r>
          </a:p>
          <a:p>
            <a:r>
              <a:rPr lang="en-US" dirty="0"/>
              <a:t>The model learns from unlabeled data and finds patterns or groups on its own.</a:t>
            </a:r>
          </a:p>
          <a:p>
            <a:pPr marL="0" indent="0">
              <a:buNone/>
            </a:pPr>
            <a:r>
              <a:rPr lang="en-US" dirty="0"/>
              <a:t>Example: Grouping customers based on their shopping behavior.</a:t>
            </a:r>
          </a:p>
          <a:p>
            <a:pPr marL="0" indent="0">
              <a:buNone/>
            </a:pPr>
            <a:r>
              <a:rPr lang="en-US" dirty="0"/>
              <a:t>3. Reinforcement Learning</a:t>
            </a:r>
          </a:p>
          <a:p>
            <a:r>
              <a:rPr lang="en-US" dirty="0"/>
              <a:t>The model learns by interacting with an environment and receiving rewards or penalties.</a:t>
            </a:r>
          </a:p>
          <a:p>
            <a:pPr marL="0" indent="0">
              <a:buNone/>
            </a:pPr>
            <a:r>
              <a:rPr lang="en-US" dirty="0"/>
              <a:t>Example: Training a robot to navigate or an AI to play a game.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9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7B62-6066-4E60-84AA-576D3C70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24B2C9-B149-4136-9502-0D20EE3762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0"/>
            <a:ext cx="104169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142960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08BB-EAC9-49DE-90E8-1E9E5931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6349-36A1-4C7E-AAAB-EDD1F3D7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Supervised Learning is a type of Machine Learning where a model learns from labeled data.</a:t>
            </a:r>
          </a:p>
          <a:p>
            <a:r>
              <a:rPr lang="en-US" dirty="0"/>
              <a:t>The training data contains both:</a:t>
            </a:r>
          </a:p>
          <a:p>
            <a:r>
              <a:rPr lang="en-US" dirty="0"/>
              <a:t>Features (Input) → information given to the model </a:t>
            </a:r>
          </a:p>
          <a:p>
            <a:r>
              <a:rPr lang="en-US" dirty="0"/>
              <a:t>Label / Target (Output) → the correct answer </a:t>
            </a:r>
          </a:p>
          <a:p>
            <a:pPr marL="0" indent="0">
              <a:buNone/>
            </a:pPr>
            <a:r>
              <a:rPr lang="en-US" dirty="0"/>
              <a:t>How it works</a:t>
            </a:r>
          </a:p>
          <a:p>
            <a:r>
              <a:rPr lang="en-US" dirty="0"/>
              <a:t>Features + Correct Labels → Training → Model → Prediction</a:t>
            </a:r>
          </a:p>
          <a:p>
            <a:pPr marL="0" indent="0">
              <a:buNone/>
            </a:pPr>
            <a:r>
              <a:rPr lang="en-US" dirty="0"/>
              <a:t>Example: House Price Prediction</a:t>
            </a:r>
          </a:p>
          <a:p>
            <a:r>
              <a:rPr lang="en-US" dirty="0"/>
              <a:t>Size + Bedrooms + Location → Price</a:t>
            </a:r>
          </a:p>
          <a:p>
            <a:r>
              <a:rPr lang="en-US" dirty="0"/>
              <a:t>The model studies many houses where the actual prices are already known and learns the relationship between the features and price.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03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46EE-8DDF-463B-93F5-BD6A15B3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8194" name="Picture 2" descr="A simple introduction into supervised learning | by Gerzson Boros | Medium">
            <a:extLst>
              <a:ext uri="{FF2B5EF4-FFF2-40B4-BE49-F238E27FC236}">
                <a16:creationId xmlns:a16="http://schemas.microsoft.com/office/drawing/2014/main" id="{33ED8503-0D1E-40C7-8029-01BE220FE1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1724" y="2016125"/>
            <a:ext cx="4862876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255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DBF2-EFD4-447A-BC58-7424B995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0FEC-7B09-4657-A661-B017E65D0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Regression is a type of Supervised Learning used to predict a continuous numerical value.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House Price Prediction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House size </a:t>
            </a:r>
          </a:p>
          <a:p>
            <a:r>
              <a:rPr lang="en-US" dirty="0"/>
              <a:t>Number of bedrooms </a:t>
            </a:r>
          </a:p>
          <a:p>
            <a:r>
              <a:rPr lang="en-US" dirty="0"/>
              <a:t>Location </a:t>
            </a:r>
          </a:p>
          <a:p>
            <a:pPr marL="0" indent="0">
              <a:buNone/>
            </a:pPr>
            <a:r>
              <a:rPr lang="en-US" dirty="0"/>
              <a:t>                  ↓</a:t>
            </a:r>
          </a:p>
          <a:p>
            <a:r>
              <a:rPr lang="en-US" dirty="0"/>
              <a:t>Regression Model</a:t>
            </a:r>
          </a:p>
          <a:p>
            <a:pPr marL="0" indent="0">
              <a:buNone/>
            </a:pPr>
            <a:r>
              <a:rPr lang="en-US" dirty="0"/>
              <a:t>                 ↓</a:t>
            </a:r>
          </a:p>
          <a:p>
            <a:r>
              <a:rPr lang="en-US" dirty="0"/>
              <a:t>Predicted Price: 15.5 Million PKR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83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0F3C-1094-43F4-B3BF-0B4967FA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53BEDA-B9F4-4861-8C46-C6BB0CDA5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8158" y="2205381"/>
            <a:ext cx="6790008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08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15FB-F856-4A37-9E76-B7C6C8AD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9DFEE-E941-49A7-9657-9BB1BE921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Classification is a type of Supervised Learning used to predict a category or class.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/>
              <a:t>              Email Spam Detection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</a:p>
          <a:p>
            <a:pPr marL="0" indent="0">
              <a:buNone/>
            </a:pPr>
            <a:r>
              <a:rPr lang="en-US" b="1" dirty="0"/>
              <a:t>               Email text </a:t>
            </a:r>
          </a:p>
          <a:p>
            <a:pPr marL="0" indent="0">
              <a:buNone/>
            </a:pPr>
            <a:r>
              <a:rPr lang="en-US" b="1" dirty="0"/>
              <a:t>Sender </a:t>
            </a:r>
          </a:p>
          <a:p>
            <a:pPr marL="0" indent="0">
              <a:buNone/>
            </a:pPr>
            <a:r>
              <a:rPr lang="en-US" b="1" dirty="0"/>
              <a:t>Links </a:t>
            </a:r>
          </a:p>
          <a:p>
            <a:pPr marL="0" indent="0">
              <a:buNone/>
            </a:pPr>
            <a:r>
              <a:rPr lang="en-US" b="1" dirty="0"/>
              <a:t>Words used </a:t>
            </a:r>
          </a:p>
          <a:p>
            <a:pPr marL="0" indent="0">
              <a:buNone/>
            </a:pPr>
            <a:r>
              <a:rPr lang="en-US" b="1" dirty="0"/>
              <a:t>            ↓</a:t>
            </a:r>
          </a:p>
          <a:p>
            <a:pPr marL="0" indent="0">
              <a:buNone/>
            </a:pPr>
            <a:r>
              <a:rPr lang="en-US" b="1" dirty="0"/>
              <a:t>Classification Model</a:t>
            </a:r>
          </a:p>
          <a:p>
            <a:pPr marL="0" indent="0">
              <a:buNone/>
            </a:pPr>
            <a:r>
              <a:rPr lang="en-US" b="1" dirty="0"/>
              <a:t>             ↓</a:t>
            </a:r>
          </a:p>
          <a:p>
            <a:pPr marL="0" indent="0">
              <a:buNone/>
            </a:pPr>
            <a:r>
              <a:rPr lang="en-US" b="1" dirty="0"/>
              <a:t>Prediction:</a:t>
            </a:r>
          </a:p>
          <a:p>
            <a:pPr marL="0" indent="0">
              <a:buNone/>
            </a:pPr>
            <a:r>
              <a:rPr lang="en-US" b="1" dirty="0"/>
              <a:t>                 Spam </a:t>
            </a:r>
          </a:p>
          <a:p>
            <a:pPr marL="0" indent="0">
              <a:buNone/>
            </a:pPr>
            <a:r>
              <a:rPr lang="en-US" dirty="0"/>
              <a:t>                 Not Spam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139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1D0F-79F6-4AC5-9AC9-0B3732E0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BD3DD8-F206-4686-967D-97C30AD0F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7259" y="2016125"/>
            <a:ext cx="6771806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899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0527-B843-4387-82D8-1C53AF89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E115-168F-486D-8C81-ABEF67BB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Unsupervised Learning</a:t>
            </a:r>
            <a:r>
              <a:rPr lang="en-US" dirty="0"/>
              <a:t> is a type of Machine Learning where a model learns from </a:t>
            </a:r>
            <a:r>
              <a:rPr lang="en-US" b="1" dirty="0"/>
              <a:t>unlabeled data</a:t>
            </a:r>
            <a:r>
              <a:rPr lang="en-US" dirty="0"/>
              <a:t> and finds patterns or structures on its own.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06591-E561-4BFB-8B2A-3D715D815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3186953"/>
            <a:ext cx="10160000" cy="33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1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BE83-6B03-49DB-BA7B-73B5D0CA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by your own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123A-7AD9-4481-9160-6F1A1AED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  <a:p>
            <a:r>
              <a:rPr lang="en-US" dirty="0"/>
              <a:t>Dimensionality Reduction </a:t>
            </a:r>
          </a:p>
          <a:p>
            <a:pPr marL="0" indent="0">
              <a:buNone/>
            </a:pPr>
            <a:r>
              <a:rPr lang="en-US" b="1" dirty="0"/>
              <a:t>Reinforcement Learning</a:t>
            </a:r>
            <a:r>
              <a:rPr lang="en-US" dirty="0"/>
              <a:t> </a:t>
            </a:r>
          </a:p>
          <a:p>
            <a:r>
              <a:rPr lang="en-US" dirty="0"/>
              <a:t>Agent </a:t>
            </a:r>
          </a:p>
          <a:p>
            <a:r>
              <a:rPr lang="en-US" dirty="0"/>
              <a:t>Environment </a:t>
            </a:r>
          </a:p>
          <a:p>
            <a:r>
              <a:rPr lang="en-US" dirty="0"/>
              <a:t>Action </a:t>
            </a:r>
          </a:p>
          <a:p>
            <a:r>
              <a:rPr lang="en-US" dirty="0"/>
              <a:t>Reward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25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2BA9-C6BE-47BF-9505-9B34BFCA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FE3A18-FEE0-4F94-BAA3-67BBDEFC44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31085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Collecting data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a dataset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data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set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 </a:t>
            </a:r>
          </a:p>
        </p:txBody>
      </p:sp>
    </p:spTree>
    <p:extLst>
      <p:ext uri="{BB962C8B-B14F-4D97-AF65-F5344CB8AC3E}">
        <p14:creationId xmlns:p14="http://schemas.microsoft.com/office/powerpoint/2010/main" val="2496606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496C-7844-4AF8-8241-BAEE9F5B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CE2A-C2FF-4668-82F0-CAB8D2645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329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96</TotalTime>
  <Words>1287</Words>
  <Application>Microsoft Office PowerPoint</Application>
  <PresentationFormat>Widescreen</PresentationFormat>
  <Paragraphs>234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Gill Sans MT</vt:lpstr>
      <vt:lpstr>Times New Roman</vt:lpstr>
      <vt:lpstr>Gallery</vt:lpstr>
      <vt:lpstr>Machine Learning</vt:lpstr>
      <vt:lpstr>What is Artificial Intelligence?</vt:lpstr>
      <vt:lpstr>What is Machine Learning?</vt:lpstr>
      <vt:lpstr>Example</vt:lpstr>
      <vt:lpstr>Why do we need Machine Learning?</vt:lpstr>
      <vt:lpstr>Traditional Programming vs Machine Learning</vt:lpstr>
      <vt:lpstr>Real-world applications of ML</vt:lpstr>
      <vt:lpstr> How Machine Learning works  </vt:lpstr>
      <vt:lpstr>Dataset</vt:lpstr>
      <vt:lpstr>House Price Dataset</vt:lpstr>
      <vt:lpstr>Features</vt:lpstr>
      <vt:lpstr>Features (Input)</vt:lpstr>
      <vt:lpstr>Labels / Target  </vt:lpstr>
      <vt:lpstr>Model</vt:lpstr>
      <vt:lpstr>Training</vt:lpstr>
      <vt:lpstr>Prediction / Inference  </vt:lpstr>
      <vt:lpstr>Types of Machine Learning</vt:lpstr>
      <vt:lpstr>Supervised Learning</vt:lpstr>
      <vt:lpstr>Supervised Learning  </vt:lpstr>
      <vt:lpstr>Example </vt:lpstr>
      <vt:lpstr>Regression</vt:lpstr>
      <vt:lpstr>Regression</vt:lpstr>
      <vt:lpstr>Classification</vt:lpstr>
      <vt:lpstr>Classification</vt:lpstr>
      <vt:lpstr>Unsupervised Learning</vt:lpstr>
      <vt:lpstr>Learn by your own </vt:lpstr>
      <vt:lpstr>Machine Learning Workflow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Furqan jan</dc:creator>
  <cp:lastModifiedBy>Furqan jan</cp:lastModifiedBy>
  <cp:revision>10</cp:revision>
  <dcterms:created xsi:type="dcterms:W3CDTF">2026-09-27T13:27:47Z</dcterms:created>
  <dcterms:modified xsi:type="dcterms:W3CDTF">2026-09-27T15:04:08Z</dcterms:modified>
</cp:coreProperties>
</file>